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287" r:id="rId4"/>
    <p:sldId id="288" r:id="rId5"/>
    <p:sldId id="289" r:id="rId6"/>
    <p:sldId id="290" r:id="rId7"/>
    <p:sldId id="301" r:id="rId8"/>
    <p:sldId id="291" r:id="rId9"/>
    <p:sldId id="292" r:id="rId10"/>
    <p:sldId id="298" r:id="rId11"/>
    <p:sldId id="295" r:id="rId12"/>
    <p:sldId id="294" r:id="rId13"/>
    <p:sldId id="296" r:id="rId14"/>
    <p:sldId id="297" r:id="rId15"/>
    <p:sldId id="300" r:id="rId16"/>
    <p:sldId id="257" r:id="rId17"/>
    <p:sldId id="278" r:id="rId18"/>
    <p:sldId id="280" r:id="rId19"/>
    <p:sldId id="299" r:id="rId20"/>
    <p:sldId id="281" r:id="rId21"/>
    <p:sldId id="302" r:id="rId22"/>
    <p:sldId id="282" r:id="rId23"/>
    <p:sldId id="303" r:id="rId24"/>
    <p:sldId id="304" r:id="rId25"/>
    <p:sldId id="308" r:id="rId26"/>
    <p:sldId id="284" r:id="rId27"/>
    <p:sldId id="305" r:id="rId28"/>
    <p:sldId id="306" r:id="rId29"/>
    <p:sldId id="285" r:id="rId30"/>
    <p:sldId id="286" r:id="rId3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565" autoAdjust="0"/>
  </p:normalViewPr>
  <p:slideViewPr>
    <p:cSldViewPr>
      <p:cViewPr varScale="1">
        <p:scale>
          <a:sx n="45" d="100"/>
          <a:sy n="45" d="100"/>
        </p:scale>
        <p:origin x="-81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E43E4-E36A-4BE7-A81C-412D7332DDB8}" type="datetimeFigureOut">
              <a:rPr lang="ko-KR" altLang="en-US" smtClean="0"/>
              <a:pPr/>
              <a:t>2026-03-19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3D323-19D2-4C30-809B-28E7C211EC6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3" name="Group 3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sp>
        <p:nvSpPr>
          <p:cNvPr id="11" name="TextBox 11"/>
          <p:cNvSpPr txBox="1"/>
          <p:nvPr/>
        </p:nvSpPr>
        <p:spPr>
          <a:xfrm>
            <a:off x="990600" y="3556000"/>
            <a:ext cx="16319500" cy="231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99600"/>
              </a:lnSpc>
            </a:pPr>
            <a:r>
              <a:rPr lang="ko-KR" altLang="en-US" sz="70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스트레스 지수 예측 </a:t>
            </a:r>
          </a:p>
          <a:p>
            <a:pPr lvl="0" algn="ctr">
              <a:lnSpc>
                <a:spcPct val="99600"/>
              </a:lnSpc>
            </a:pPr>
            <a:r>
              <a:rPr lang="ko-KR" sz="7000" i="0" u="none" strike="noStrike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예측</a:t>
            </a:r>
            <a:r>
              <a:rPr lang="en-US" sz="7000" i="0" u="none" strike="noStrike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sz="700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AI </a:t>
            </a:r>
            <a:r>
              <a:rPr lang="ko-KR" sz="7000" i="0" u="none" strike="noStrike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해커톤</a:t>
            </a:r>
            <a:endParaRPr lang="ko-KR" sz="7000" i="0" u="none" strike="noStrike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072958" y="6143632"/>
            <a:ext cx="4648200" cy="2806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endParaRPr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>
              <a:lnSpc>
                <a:spcPct val="107899"/>
              </a:lnSpc>
            </a:pPr>
            <a:r>
              <a:rPr lang="en-US" altLang="ko-KR" sz="28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8</a:t>
            </a:r>
            <a:r>
              <a:rPr lang="ko-KR" altLang="en-US" sz="28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조 </a:t>
            </a:r>
            <a:r>
              <a:rPr lang="ko-KR" altLang="en-US" sz="2800" dirty="0" err="1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달린다곽잡아</a:t>
            </a:r>
            <a:endParaRPr lang="en-US" altLang="ko-KR" sz="2800" dirty="0" smtClean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lvl="0" algn="ctr">
              <a:lnSpc>
                <a:spcPct val="107899"/>
              </a:lnSpc>
            </a:pPr>
            <a:endParaRPr lang="en-US" altLang="ko-KR" sz="2400" dirty="0" smtClean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4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AH_02_</a:t>
            </a:r>
            <a:r>
              <a:rPr lang="ko-KR" altLang="en-US" sz="24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곽호준</a:t>
            </a:r>
            <a:endParaRPr lang="en-US" sz="2400" b="0" i="0" u="none" strike="noStrike" dirty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4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AH_02_ </a:t>
            </a:r>
            <a:r>
              <a:rPr lang="ko-KR" altLang="en-US" sz="2400" b="0" i="0" u="none" strike="noStrike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한지수</a:t>
            </a:r>
            <a:endParaRPr lang="en-US" altLang="ko-KR" sz="2400" b="0" i="0" u="none" strike="noStrike" dirty="0" smtClean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4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AH_02_ </a:t>
            </a:r>
            <a:r>
              <a:rPr lang="ko-KR" altLang="en-US" sz="2400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탁진선</a:t>
            </a:r>
            <a:endParaRPr lang="en-US" sz="2400" b="0" i="0" u="none" strike="noStrike" dirty="0" smtClean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lvl="0" algn="ctr">
              <a:lnSpc>
                <a:spcPct val="107899"/>
              </a:lnSpc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14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6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500662" y="4648200"/>
            <a:ext cx="8643998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데이터</a:t>
            </a:r>
            <a:r>
              <a:rPr lang="en-US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탐색</a:t>
            </a:r>
            <a:r>
              <a:rPr lang="en-US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(EDA)</a:t>
            </a:r>
          </a:p>
        </p:txBody>
      </p:sp>
      <p:pic>
        <p:nvPicPr>
          <p:cNvPr id="15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6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7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287140" y="8501086"/>
            <a:ext cx="65024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 err="1">
                <a:solidFill>
                  <a:schemeClr val="bg1"/>
                </a:solidFill>
                <a:latin typeface="+mj-ea"/>
                <a:ea typeface="+mj-ea"/>
              </a:rPr>
              <a:t>데이터셋</a:t>
            </a:r>
            <a:r>
              <a:rPr lang="en-US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구조</a:t>
            </a:r>
            <a:r>
              <a:rPr lang="en-US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및</a:t>
            </a:r>
            <a:r>
              <a:rPr lang="en-US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변수</a:t>
            </a:r>
            <a:r>
              <a:rPr lang="en-US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확인</a:t>
            </a:r>
          </a:p>
        </p:txBody>
      </p:sp>
      <p:pic>
        <p:nvPicPr>
          <p:cNvPr id="13" name="그림 12" descr="히스토그램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382" y="1071534"/>
            <a:ext cx="8715436" cy="8501122"/>
          </a:xfrm>
          <a:prstGeom prst="rect">
            <a:avLst/>
          </a:prstGeom>
        </p:spPr>
      </p:pic>
      <p:pic>
        <p:nvPicPr>
          <p:cNvPr id="17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8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4310034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1" i="0" u="none" strike="noStrike" dirty="0">
                <a:solidFill>
                  <a:schemeClr val="bg1"/>
                </a:solidFill>
                <a:ea typeface="Pretendard Bold"/>
              </a:rPr>
              <a:t>타깃</a:t>
            </a:r>
            <a:r>
              <a:rPr lang="en-US" sz="4000" b="1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1" i="0" u="none" strike="noStrike" dirty="0">
                <a:solidFill>
                  <a:schemeClr val="bg1"/>
                </a:solidFill>
                <a:ea typeface="Pretendard Bold"/>
              </a:rPr>
              <a:t>분포</a:t>
            </a:r>
            <a:r>
              <a:rPr lang="en-US" sz="4000" b="1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1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266" y="2857484"/>
            <a:ext cx="1285884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+mn-ea"/>
              </a:rPr>
              <a:t>ID: 3000 categories</a:t>
            </a:r>
          </a:p>
          <a:p>
            <a:endParaRPr lang="en-US" sz="3600" dirty="0" smtClean="0">
              <a:solidFill>
                <a:schemeClr val="bg1"/>
              </a:solidFill>
              <a:latin typeface="+mn-ea"/>
            </a:endParaRPr>
          </a:p>
          <a:p>
            <a:r>
              <a:rPr lang="en-US" sz="3600" dirty="0" smtClean="0">
                <a:solidFill>
                  <a:schemeClr val="bg1"/>
                </a:solidFill>
                <a:latin typeface="+mn-ea"/>
              </a:rPr>
              <a:t> gender: 2 categories </a:t>
            </a:r>
          </a:p>
          <a:p>
            <a:r>
              <a:rPr lang="en-US" sz="3600" dirty="0" smtClean="0">
                <a:solidFill>
                  <a:schemeClr val="bg1"/>
                </a:solidFill>
                <a:latin typeface="+mn-ea"/>
              </a:rPr>
              <a:t>activity: 3 categories </a:t>
            </a:r>
          </a:p>
          <a:p>
            <a:r>
              <a:rPr lang="en-US" sz="3600" dirty="0" err="1" smtClean="0">
                <a:solidFill>
                  <a:schemeClr val="bg1"/>
                </a:solidFill>
                <a:latin typeface="+mn-ea"/>
              </a:rPr>
              <a:t>smoke_status</a:t>
            </a:r>
            <a:r>
              <a:rPr lang="en-US" sz="3600" dirty="0" smtClean="0">
                <a:solidFill>
                  <a:schemeClr val="bg1"/>
                </a:solidFill>
                <a:latin typeface="+mn-ea"/>
              </a:rPr>
              <a:t>: 3 categories </a:t>
            </a:r>
          </a:p>
          <a:p>
            <a:r>
              <a:rPr lang="en-US" sz="3600" dirty="0" err="1" smtClean="0">
                <a:solidFill>
                  <a:schemeClr val="bg1"/>
                </a:solidFill>
                <a:latin typeface="+mn-ea"/>
              </a:rPr>
              <a:t>medical_history</a:t>
            </a:r>
            <a:r>
              <a:rPr lang="en-US" sz="3600" dirty="0" smtClean="0">
                <a:solidFill>
                  <a:schemeClr val="bg1"/>
                </a:solidFill>
                <a:latin typeface="+mn-ea"/>
              </a:rPr>
              <a:t>: 3 categories </a:t>
            </a:r>
          </a:p>
          <a:p>
            <a:r>
              <a:rPr lang="en-US" sz="3600" dirty="0" err="1" smtClean="0">
                <a:solidFill>
                  <a:schemeClr val="bg1"/>
                </a:solidFill>
                <a:latin typeface="+mn-ea"/>
              </a:rPr>
              <a:t>family_medical_history</a:t>
            </a:r>
            <a:r>
              <a:rPr lang="en-US" sz="3600" dirty="0" smtClean="0">
                <a:solidFill>
                  <a:schemeClr val="bg1"/>
                </a:solidFill>
                <a:latin typeface="+mn-ea"/>
              </a:rPr>
              <a:t>: 3 categories </a:t>
            </a:r>
          </a:p>
          <a:p>
            <a:r>
              <a:rPr lang="en-US" sz="3600" dirty="0" err="1" smtClean="0">
                <a:solidFill>
                  <a:schemeClr val="bg1"/>
                </a:solidFill>
                <a:latin typeface="+mn-ea"/>
              </a:rPr>
              <a:t>sleep_pattern</a:t>
            </a:r>
            <a:r>
              <a:rPr lang="en-US" sz="3600" dirty="0" smtClean="0">
                <a:solidFill>
                  <a:schemeClr val="bg1"/>
                </a:solidFill>
                <a:latin typeface="+mn-ea"/>
              </a:rPr>
              <a:t>: 3 categories </a:t>
            </a:r>
          </a:p>
          <a:p>
            <a:r>
              <a:rPr lang="en-US" sz="3600" dirty="0" err="1" smtClean="0">
                <a:solidFill>
                  <a:schemeClr val="bg1"/>
                </a:solidFill>
                <a:latin typeface="+mn-ea"/>
              </a:rPr>
              <a:t>edu_level</a:t>
            </a:r>
            <a:r>
              <a:rPr lang="en-US" sz="3600" dirty="0" smtClean="0">
                <a:solidFill>
                  <a:schemeClr val="bg1"/>
                </a:solidFill>
                <a:latin typeface="+mn-ea"/>
              </a:rPr>
              <a:t>: 3 categories</a:t>
            </a:r>
            <a:endParaRPr lang="ko-KR" altLang="en-US" sz="36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2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552448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주요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변수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분포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572" y="2714608"/>
            <a:ext cx="1293027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결측치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: 4414</a:t>
            </a:r>
          </a:p>
          <a:p>
            <a:endParaRPr lang="en-US" altLang="ko-KR" sz="280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수치형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 데이터 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(Numerical)</a:t>
            </a:r>
          </a:p>
          <a:p>
            <a:endParaRPr lang="en-US" altLang="ko-KR" sz="280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연속형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(float64):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신장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(height),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체중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(weight),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콜레스테롤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(cholesterol),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혈당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(glucose), </a:t>
            </a:r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골밀도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bone_density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평균 근무 시간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mean_working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스트레스 지수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stress_score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</a:t>
            </a:r>
          </a:p>
          <a:p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이산형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(int64):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나이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(age), </a:t>
            </a:r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수축기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 혈압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systolic_blood_pressure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이완기 혈압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diastolic_blood_pressure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</a:t>
            </a:r>
          </a:p>
          <a:p>
            <a:endParaRPr lang="en-US" altLang="ko-KR" sz="2800" dirty="0" smtClean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범주형 데이터 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(Categorical)</a:t>
            </a:r>
          </a:p>
          <a:p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명목형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(object): ID(</a:t>
            </a:r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식별자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성별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(gender),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활동량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(activity),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흡연 여부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smoke_status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과거 병력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medical_history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가족력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family_medical_history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),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수면 패턴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sleep_pattern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</a:t>
            </a:r>
          </a:p>
          <a:p>
            <a:r>
              <a:rPr lang="ko-KR" altLang="en-US" sz="2800" dirty="0" err="1" smtClean="0">
                <a:solidFill>
                  <a:schemeClr val="bg1"/>
                </a:solidFill>
                <a:latin typeface="+mn-ea"/>
              </a:rPr>
              <a:t>순서형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(object): </a:t>
            </a:r>
            <a:r>
              <a:rPr lang="ko-KR" altLang="en-US" sz="2800" dirty="0" smtClean="0">
                <a:solidFill>
                  <a:schemeClr val="bg1"/>
                </a:solidFill>
                <a:latin typeface="+mn-ea"/>
              </a:rPr>
              <a:t>교육 수준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  <a:latin typeface="+mn-ea"/>
              </a:rPr>
              <a:t>edu_level</a:t>
            </a:r>
            <a:r>
              <a:rPr lang="en-US" altLang="ko-KR" sz="2800" dirty="0" smtClean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6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7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8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357918" y="1357286"/>
            <a:ext cx="6286544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변수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간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상관관계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파악</a:t>
            </a:r>
          </a:p>
        </p:txBody>
      </p:sp>
      <p:pic>
        <p:nvPicPr>
          <p:cNvPr id="12" name="그림 11" descr="히트맵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10" y="2357418"/>
            <a:ext cx="7992538" cy="685804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4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4238596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문제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유형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7324" y="2571732"/>
            <a:ext cx="1407328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결측치</a:t>
            </a:r>
            <a:r>
              <a:rPr lang="ko-KR" altLang="en-US" sz="2800" dirty="0" smtClean="0">
                <a:solidFill>
                  <a:schemeClr val="bg1"/>
                </a:solidFill>
              </a:rPr>
              <a:t> 처리</a:t>
            </a:r>
            <a:endParaRPr lang="en-US" altLang="ko-KR" sz="2800" dirty="0" smtClean="0">
              <a:solidFill>
                <a:schemeClr val="bg1"/>
              </a:solidFill>
            </a:endParaRPr>
          </a:p>
          <a:p>
            <a:endParaRPr lang="en-US" altLang="ko-KR" sz="2800" dirty="0" smtClean="0">
              <a:solidFill>
                <a:schemeClr val="bg1"/>
              </a:solidFill>
            </a:endParaRPr>
          </a:p>
          <a:p>
            <a:r>
              <a:rPr lang="ko-KR" altLang="en-US" sz="2800" dirty="0" smtClean="0">
                <a:solidFill>
                  <a:schemeClr val="bg1"/>
                </a:solidFill>
              </a:rPr>
              <a:t>문자형 데이터를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숫자형</a:t>
            </a:r>
            <a:r>
              <a:rPr lang="ko-KR" altLang="en-US" sz="2800" dirty="0" smtClean="0">
                <a:solidFill>
                  <a:schemeClr val="bg1"/>
                </a:solidFill>
              </a:rPr>
              <a:t> 데이터로 변환</a:t>
            </a:r>
            <a:r>
              <a:rPr lang="en-US" altLang="ko-KR" sz="2800" dirty="0" smtClean="0">
                <a:solidFill>
                  <a:schemeClr val="bg1"/>
                </a:solidFill>
              </a:rPr>
              <a:t>(Ordinal encoding)</a:t>
            </a:r>
          </a:p>
          <a:p>
            <a:endParaRPr lang="en-US" altLang="ko-KR" sz="2800" dirty="0" smtClean="0">
              <a:solidFill>
                <a:schemeClr val="bg1"/>
              </a:solidFill>
            </a:endParaRPr>
          </a:p>
          <a:p>
            <a:r>
              <a:rPr lang="ko-KR" altLang="en-US" sz="2800" dirty="0" smtClean="0">
                <a:solidFill>
                  <a:schemeClr val="bg1"/>
                </a:solidFill>
              </a:rPr>
              <a:t>원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핫</a:t>
            </a:r>
            <a:r>
              <a:rPr lang="ko-KR" altLang="en-US" sz="2800" dirty="0" smtClean="0">
                <a:solidFill>
                  <a:schemeClr val="bg1"/>
                </a:solidFill>
              </a:rPr>
              <a:t>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인코딩</a:t>
            </a:r>
            <a:r>
              <a:rPr lang="ko-KR" altLang="en-US" sz="2800" dirty="0" smtClean="0">
                <a:solidFill>
                  <a:schemeClr val="bg1"/>
                </a:solidFill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</a:rPr>
              <a:t>(</a:t>
            </a:r>
            <a:r>
              <a:rPr lang="en-US" sz="2800" dirty="0" smtClean="0">
                <a:solidFill>
                  <a:schemeClr val="bg1"/>
                </a:solidFill>
              </a:rPr>
              <a:t>One-hot encoding</a:t>
            </a:r>
            <a:r>
              <a:rPr lang="en-US" altLang="ko-KR" sz="2800" dirty="0" smtClean="0">
                <a:solidFill>
                  <a:schemeClr val="bg1"/>
                </a:solidFill>
              </a:rPr>
              <a:t>)</a:t>
            </a:r>
          </a:p>
          <a:p>
            <a:endParaRPr lang="en-US" altLang="ko-KR" sz="2800" dirty="0" smtClean="0">
              <a:solidFill>
                <a:schemeClr val="bg1"/>
              </a:solidFill>
            </a:endParaRPr>
          </a:p>
          <a:p>
            <a:r>
              <a:rPr lang="ko-KR" altLang="en-US" sz="2800" dirty="0" err="1" smtClean="0">
                <a:solidFill>
                  <a:schemeClr val="bg1"/>
                </a:solidFill>
              </a:rPr>
              <a:t>피쳐</a:t>
            </a:r>
            <a:r>
              <a:rPr lang="ko-KR" altLang="en-US" sz="2800" dirty="0" smtClean="0">
                <a:solidFill>
                  <a:schemeClr val="bg1"/>
                </a:solidFill>
              </a:rPr>
              <a:t> 엔지니어링</a:t>
            </a:r>
            <a:r>
              <a:rPr lang="en-US" altLang="ko-KR" sz="2800" dirty="0" smtClean="0">
                <a:solidFill>
                  <a:schemeClr val="bg1"/>
                </a:solidFill>
              </a:rPr>
              <a:t>(</a:t>
            </a:r>
            <a:r>
              <a:rPr lang="en-US" sz="2800" dirty="0" smtClean="0">
                <a:solidFill>
                  <a:schemeClr val="bg1"/>
                </a:solidFill>
              </a:rPr>
              <a:t>Feature Engineering</a:t>
            </a:r>
            <a:r>
              <a:rPr lang="en-US" altLang="ko-KR" sz="2800" dirty="0" smtClean="0">
                <a:solidFill>
                  <a:schemeClr val="bg1"/>
                </a:solidFill>
              </a:rPr>
              <a:t>)</a:t>
            </a:r>
          </a:p>
          <a:p>
            <a:endParaRPr lang="en-US" altLang="ko-KR" sz="2800" dirty="0" smtClean="0">
              <a:solidFill>
                <a:schemeClr val="bg1"/>
              </a:solidFill>
            </a:endParaRPr>
          </a:p>
          <a:p>
            <a:r>
              <a:rPr lang="ko-KR" altLang="en-US" sz="2800" dirty="0" smtClean="0">
                <a:solidFill>
                  <a:schemeClr val="bg1"/>
                </a:solidFill>
              </a:rPr>
              <a:t>신체 지표 최적화</a:t>
            </a:r>
            <a:r>
              <a:rPr lang="en-US" altLang="ko-KR" sz="2800" dirty="0" smtClean="0">
                <a:solidFill>
                  <a:schemeClr val="bg1"/>
                </a:solidFill>
              </a:rPr>
              <a:t>: BMI (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체질량지수</a:t>
            </a:r>
            <a:r>
              <a:rPr lang="en-US" altLang="ko-KR" sz="2800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altLang="ko-KR" sz="2800" dirty="0" smtClean="0">
                <a:solidFill>
                  <a:schemeClr val="bg1"/>
                </a:solidFill>
              </a:rPr>
              <a:t/>
            </a:r>
            <a:br>
              <a:rPr lang="en-US" altLang="ko-KR" sz="2800" dirty="0" smtClean="0">
                <a:solidFill>
                  <a:schemeClr val="bg1"/>
                </a:solidFill>
              </a:rPr>
            </a:br>
            <a:r>
              <a:rPr lang="ko-KR" altLang="en-US" sz="2800" dirty="0" smtClean="0">
                <a:solidFill>
                  <a:schemeClr val="bg1"/>
                </a:solidFill>
              </a:rPr>
              <a:t> 혈압 관련 상세 지표</a:t>
            </a:r>
            <a:r>
              <a:rPr lang="en-US" altLang="ko-KR" sz="2800" dirty="0" smtClean="0">
                <a:solidFill>
                  <a:schemeClr val="bg1"/>
                </a:solidFill>
              </a:rPr>
              <a:t>: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맥압</a:t>
            </a:r>
            <a:r>
              <a:rPr lang="en-US" altLang="ko-KR" sz="2800" dirty="0" smtClean="0">
                <a:solidFill>
                  <a:schemeClr val="bg1"/>
                </a:solidFill>
              </a:rPr>
              <a:t>(Pulse Pressure) &amp; </a:t>
            </a:r>
            <a:r>
              <a:rPr lang="ko-KR" altLang="en-US" sz="2800" dirty="0" smtClean="0">
                <a:solidFill>
                  <a:schemeClr val="bg1"/>
                </a:solidFill>
              </a:rPr>
              <a:t>평균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동맥압</a:t>
            </a:r>
            <a:r>
              <a:rPr lang="en-US" altLang="ko-KR" sz="2800" dirty="0" smtClean="0">
                <a:solidFill>
                  <a:schemeClr val="bg1"/>
                </a:solidFill>
              </a:rPr>
              <a:t>(MAP)</a:t>
            </a:r>
          </a:p>
          <a:p>
            <a:r>
              <a:rPr lang="en-US" altLang="ko-KR" sz="2800" dirty="0" smtClean="0">
                <a:solidFill>
                  <a:schemeClr val="bg1"/>
                </a:solidFill>
              </a:rPr>
              <a:t/>
            </a:r>
            <a:br>
              <a:rPr lang="en-US" altLang="ko-KR" sz="2800" dirty="0" smtClean="0">
                <a:solidFill>
                  <a:schemeClr val="bg1"/>
                </a:solidFill>
              </a:rPr>
            </a:br>
            <a:r>
              <a:rPr lang="ko-KR" altLang="en-US" sz="2800" dirty="0" smtClean="0">
                <a:solidFill>
                  <a:schemeClr val="bg1"/>
                </a:solidFill>
              </a:rPr>
              <a:t> 연령과 활동량</a:t>
            </a:r>
            <a:r>
              <a:rPr lang="en-US" altLang="ko-KR" sz="2800" dirty="0" smtClean="0">
                <a:solidFill>
                  <a:schemeClr val="bg1"/>
                </a:solidFill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</a:rPr>
              <a:t>age_activity</a:t>
            </a:r>
            <a:r>
              <a:rPr lang="en-US" altLang="ko-KR" sz="2800" dirty="0" smtClean="0">
                <a:solidFill>
                  <a:schemeClr val="bg1"/>
                </a:solidFill>
              </a:rPr>
              <a:t>)</a:t>
            </a:r>
          </a:p>
          <a:p>
            <a:endParaRPr lang="en-US" altLang="ko-KR" sz="2800" dirty="0" smtClean="0">
              <a:solidFill>
                <a:schemeClr val="bg1"/>
              </a:solidFill>
            </a:endParaRPr>
          </a:p>
          <a:p>
            <a:r>
              <a:rPr lang="ko-KR" altLang="en-US" sz="2800" dirty="0" smtClean="0">
                <a:solidFill>
                  <a:schemeClr val="bg1"/>
                </a:solidFill>
              </a:rPr>
              <a:t>연령과 비만도</a:t>
            </a:r>
            <a:r>
              <a:rPr lang="en-US" altLang="ko-KR" sz="2800" dirty="0" smtClean="0">
                <a:solidFill>
                  <a:schemeClr val="bg1"/>
                </a:solidFill>
              </a:rPr>
              <a:t>(</a:t>
            </a:r>
            <a:r>
              <a:rPr lang="en-US" altLang="ko-KR" sz="2800" dirty="0" err="1" smtClean="0">
                <a:solidFill>
                  <a:schemeClr val="bg1"/>
                </a:solidFill>
              </a:rPr>
              <a:t>age_bmi</a:t>
            </a:r>
            <a:r>
              <a:rPr lang="en-US" altLang="ko-KR" sz="2800" dirty="0" smtClean="0">
                <a:solidFill>
                  <a:schemeClr val="bg1"/>
                </a:solidFill>
              </a:rPr>
              <a:t>)</a:t>
            </a:r>
            <a:endParaRPr lang="ko-KR" altLang="en-US" sz="2800" dirty="0" smtClean="0">
              <a:solidFill>
                <a:schemeClr val="bg1"/>
              </a:solidFill>
            </a:endParaRPr>
          </a:p>
        </p:txBody>
      </p:sp>
      <p:pic>
        <p:nvPicPr>
          <p:cNvPr id="13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4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086600" y="4648200"/>
            <a:ext cx="5200672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데이터</a:t>
            </a:r>
            <a:r>
              <a:rPr lang="en-US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6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전처리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572148" y="4230710"/>
            <a:ext cx="792957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Feature Encoding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및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표현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 smtClean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방식</a:t>
            </a:r>
            <a:endParaRPr lang="en-US" altLang="ko-KR" sz="4000" b="0" i="0" u="none" strike="noStrike" dirty="0" smtClean="0">
              <a:solidFill>
                <a:schemeClr val="bg1"/>
              </a:solidFill>
              <a:latin typeface="HY견고딕" pitchFamily="18" charset="-127"/>
              <a:ea typeface="HY견고딕" pitchFamily="18" charset="-127"/>
            </a:endParaRPr>
          </a:p>
          <a:p>
            <a:pPr lvl="0" algn="l">
              <a:lnSpc>
                <a:spcPct val="116199"/>
              </a:lnSpc>
            </a:pPr>
            <a:endParaRPr lang="en-US" altLang="ko-KR" sz="4000" dirty="0" smtClean="0">
              <a:solidFill>
                <a:schemeClr val="bg1"/>
              </a:solidFill>
              <a:ea typeface="Pretendard Bold"/>
            </a:endParaRPr>
          </a:p>
          <a:p>
            <a:pPr lvl="0" algn="l">
              <a:lnSpc>
                <a:spcPct val="116199"/>
              </a:lnSpc>
            </a:pPr>
            <a:endParaRPr lang="ko-KR" sz="4000" b="0" i="0" u="none" strike="noStrike" dirty="0">
              <a:solidFill>
                <a:schemeClr val="bg1"/>
              </a:solidFill>
              <a:ea typeface="Pretendard 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43736" y="5214938"/>
            <a:ext cx="500066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결측치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처리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전략</a:t>
            </a:r>
          </a:p>
        </p:txBody>
      </p:sp>
      <p:pic>
        <p:nvPicPr>
          <p:cNvPr id="13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4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ca5hgo1rj4fsxzz_page-0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83" y="1142972"/>
            <a:ext cx="14750406" cy="835908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2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4810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학습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데이터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구성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2285952" y="2857484"/>
            <a:ext cx="127874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 smtClean="0">
                <a:solidFill>
                  <a:schemeClr val="bg1"/>
                </a:solidFill>
              </a:rPr>
              <a:t>결측치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 처리</a:t>
            </a:r>
            <a:r>
              <a:rPr lang="en-US" altLang="ko-KR" sz="3600" dirty="0" smtClean="0">
                <a:solidFill>
                  <a:schemeClr val="bg1"/>
                </a:solidFill>
              </a:rPr>
              <a:t>: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mean_working</a:t>
            </a:r>
            <a:r>
              <a:rPr lang="ko-KR" altLang="en-US" sz="3600" dirty="0" smtClean="0">
                <a:solidFill>
                  <a:schemeClr val="bg1"/>
                </a:solidFill>
              </a:rPr>
              <a:t>은 </a:t>
            </a:r>
            <a:r>
              <a:rPr lang="en-US" altLang="ko-KR" sz="3600" dirty="0" smtClean="0">
                <a:solidFill>
                  <a:schemeClr val="bg1"/>
                </a:solidFill>
              </a:rPr>
              <a:t>0</a:t>
            </a:r>
            <a:r>
              <a:rPr lang="ko-KR" altLang="en-US" sz="3600" dirty="0" smtClean="0">
                <a:solidFill>
                  <a:schemeClr val="bg1"/>
                </a:solidFill>
              </a:rPr>
              <a:t>으로</a:t>
            </a:r>
            <a:r>
              <a:rPr lang="en-US" altLang="ko-KR" sz="3600" dirty="0" smtClean="0">
                <a:solidFill>
                  <a:schemeClr val="bg1"/>
                </a:solidFill>
              </a:rPr>
              <a:t>, </a:t>
            </a:r>
          </a:p>
          <a:p>
            <a:r>
              <a:rPr lang="ko-KR" altLang="en-US" sz="3600" dirty="0" smtClean="0">
                <a:solidFill>
                  <a:schemeClr val="bg1"/>
                </a:solidFill>
              </a:rPr>
              <a:t>기타 범주형 데이터는 </a:t>
            </a:r>
            <a:r>
              <a:rPr lang="en-US" altLang="ko-KR" sz="3600" dirty="0" smtClean="0">
                <a:solidFill>
                  <a:schemeClr val="bg1"/>
                </a:solidFill>
              </a:rPr>
              <a:t>'Unknown'</a:t>
            </a:r>
            <a:r>
              <a:rPr lang="ko-KR" altLang="en-US" sz="3600" dirty="0" smtClean="0">
                <a:solidFill>
                  <a:schemeClr val="bg1"/>
                </a:solidFill>
              </a:rPr>
              <a:t>으로 채움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ko-KR" altLang="en-US" sz="3600" b="1" dirty="0" smtClean="0">
                <a:solidFill>
                  <a:schemeClr val="bg1"/>
                </a:solidFill>
              </a:rPr>
              <a:t>파생 변수 생성</a:t>
            </a:r>
            <a:r>
              <a:rPr lang="en-US" altLang="ko-KR" sz="3600" dirty="0" smtClean="0">
                <a:solidFill>
                  <a:schemeClr val="bg1"/>
                </a:solidFill>
              </a:rPr>
              <a:t>: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bmi</a:t>
            </a:r>
            <a:r>
              <a:rPr lang="en-US" altLang="ko-KR" sz="3600" dirty="0" smtClean="0">
                <a:solidFill>
                  <a:schemeClr val="bg1"/>
                </a:solidFill>
              </a:rPr>
              <a:t>(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체질량지수</a:t>
            </a:r>
            <a:r>
              <a:rPr lang="en-US" altLang="ko-KR" sz="3600" dirty="0" smtClean="0">
                <a:solidFill>
                  <a:schemeClr val="bg1"/>
                </a:solidFill>
              </a:rPr>
              <a:t>),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pulse_pressure</a:t>
            </a:r>
            <a:r>
              <a:rPr lang="en-US" altLang="ko-KR" sz="3600" dirty="0" smtClean="0">
                <a:solidFill>
                  <a:schemeClr val="bg1"/>
                </a:solidFill>
              </a:rPr>
              <a:t>(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맥압</a:t>
            </a:r>
            <a:r>
              <a:rPr lang="en-US" altLang="ko-KR" sz="3600" dirty="0" smtClean="0">
                <a:solidFill>
                  <a:schemeClr val="bg1"/>
                </a:solidFill>
              </a:rPr>
              <a:t>),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map_bp</a:t>
            </a:r>
            <a:r>
              <a:rPr lang="en-US" altLang="ko-KR" sz="3600" dirty="0" smtClean="0">
                <a:solidFill>
                  <a:schemeClr val="bg1"/>
                </a:solidFill>
              </a:rPr>
              <a:t>(</a:t>
            </a:r>
            <a:r>
              <a:rPr lang="ko-KR" altLang="en-US" sz="3600" dirty="0" smtClean="0">
                <a:solidFill>
                  <a:schemeClr val="bg1"/>
                </a:solidFill>
              </a:rPr>
              <a:t>평균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동맥압</a:t>
            </a:r>
            <a:r>
              <a:rPr lang="en-US" altLang="ko-KR" sz="3600" dirty="0" smtClean="0">
                <a:solidFill>
                  <a:schemeClr val="bg1"/>
                </a:solidFill>
              </a:rPr>
              <a:t>)</a:t>
            </a:r>
            <a:r>
              <a:rPr lang="ko-KR" altLang="en-US" sz="3600" dirty="0" smtClean="0">
                <a:solidFill>
                  <a:schemeClr val="bg1"/>
                </a:solidFill>
              </a:rPr>
              <a:t>와 같이 신체 지표를 활용한 변수와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age_activity</a:t>
            </a:r>
            <a:r>
              <a:rPr lang="en-US" altLang="ko-KR" sz="3600" dirty="0" smtClean="0">
                <a:solidFill>
                  <a:schemeClr val="bg1"/>
                </a:solidFill>
              </a:rPr>
              <a:t>,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age_bmi</a:t>
            </a:r>
            <a:r>
              <a:rPr lang="en-US" altLang="ko-KR" sz="3600" dirty="0" smtClean="0">
                <a:solidFill>
                  <a:schemeClr val="bg1"/>
                </a:solidFill>
              </a:rPr>
              <a:t> </a:t>
            </a:r>
            <a:r>
              <a:rPr lang="ko-KR" altLang="en-US" sz="3600" dirty="0" smtClean="0">
                <a:solidFill>
                  <a:schemeClr val="bg1"/>
                </a:solidFill>
              </a:rPr>
              <a:t>등 상호작용 변수를 생성하여 학습에 활용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8239124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입력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데이터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정규화</a:t>
            </a:r>
            <a:r>
              <a:rPr lang="en-US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 &amp;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스케일링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2143076" y="2857484"/>
            <a:ext cx="135732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chemeClr val="bg1"/>
                </a:solidFill>
              </a:rPr>
              <a:t>RobustScaler</a:t>
            </a:r>
            <a:r>
              <a:rPr lang="en-US" altLang="ko-KR" sz="3600" dirty="0" smtClean="0">
                <a:solidFill>
                  <a:schemeClr val="bg1"/>
                </a:solidFill>
              </a:rPr>
              <a:t>: </a:t>
            </a:r>
            <a:r>
              <a:rPr lang="ko-KR" altLang="en-US" sz="3600" dirty="0" smtClean="0">
                <a:solidFill>
                  <a:schemeClr val="bg1"/>
                </a:solidFill>
              </a:rPr>
              <a:t>이상치</a:t>
            </a:r>
            <a:r>
              <a:rPr lang="en-US" altLang="ko-KR" sz="3600" dirty="0" smtClean="0">
                <a:solidFill>
                  <a:schemeClr val="bg1"/>
                </a:solidFill>
              </a:rPr>
              <a:t>(Outlier)</a:t>
            </a:r>
            <a:r>
              <a:rPr lang="ko-KR" altLang="en-US" sz="3600" dirty="0" smtClean="0">
                <a:solidFill>
                  <a:schemeClr val="bg1"/>
                </a:solidFill>
              </a:rPr>
              <a:t>의 영향을 최소화하면서 피처를 스케일링하는 데 사용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en-US" altLang="ko-KR" sz="3600" b="1" dirty="0" err="1" smtClean="0">
                <a:solidFill>
                  <a:schemeClr val="bg1"/>
                </a:solidFill>
              </a:rPr>
              <a:t>QuantileTransformer</a:t>
            </a:r>
            <a:r>
              <a:rPr lang="en-US" altLang="ko-KR" sz="3600" dirty="0" smtClean="0">
                <a:solidFill>
                  <a:schemeClr val="bg1"/>
                </a:solidFill>
              </a:rPr>
              <a:t>: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타겟</a:t>
            </a:r>
            <a:r>
              <a:rPr lang="ko-KR" altLang="en-US" sz="3600" dirty="0" smtClean="0">
                <a:solidFill>
                  <a:schemeClr val="bg1"/>
                </a:solidFill>
              </a:rPr>
              <a:t> 변수인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stress_score</a:t>
            </a:r>
            <a:r>
              <a:rPr lang="ko-KR" altLang="en-US" sz="3600" dirty="0" smtClean="0">
                <a:solidFill>
                  <a:schemeClr val="bg1"/>
                </a:solidFill>
              </a:rPr>
              <a:t>에 적용되어 데이터를 정규분포 형태로 변환함으로써 회귀 모델</a:t>
            </a:r>
            <a:r>
              <a:rPr lang="en-US" altLang="ko-KR" sz="3600" dirty="0" smtClean="0">
                <a:solidFill>
                  <a:schemeClr val="bg1"/>
                </a:solidFill>
              </a:rPr>
              <a:t>(SVR)</a:t>
            </a:r>
            <a:r>
              <a:rPr lang="ko-KR" altLang="en-US" sz="3600" dirty="0" smtClean="0">
                <a:solidFill>
                  <a:schemeClr val="bg1"/>
                </a:solidFill>
              </a:rPr>
              <a:t>의 성능을 최적화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One-Hot Encoding</a:t>
            </a:r>
            <a:r>
              <a:rPr lang="en-US" altLang="ko-KR" sz="3600" dirty="0" smtClean="0">
                <a:solidFill>
                  <a:schemeClr val="bg1"/>
                </a:solidFill>
              </a:rPr>
              <a:t>: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medical_history</a:t>
            </a:r>
            <a:r>
              <a:rPr lang="en-US" altLang="ko-KR" sz="3600" dirty="0" smtClean="0">
                <a:solidFill>
                  <a:schemeClr val="bg1"/>
                </a:solidFill>
              </a:rPr>
              <a:t>,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smoke_status</a:t>
            </a:r>
            <a:r>
              <a:rPr lang="en-US" altLang="ko-KR" sz="3600" dirty="0" smtClean="0">
                <a:solidFill>
                  <a:schemeClr val="bg1"/>
                </a:solidFill>
              </a:rPr>
              <a:t> </a:t>
            </a:r>
            <a:r>
              <a:rPr lang="ko-KR" altLang="en-US" sz="3600" dirty="0" smtClean="0">
                <a:solidFill>
                  <a:schemeClr val="bg1"/>
                </a:solidFill>
              </a:rPr>
              <a:t>등의 범주형 데이터를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수치형</a:t>
            </a:r>
            <a:r>
              <a:rPr lang="ko-KR" altLang="en-US" sz="3600" dirty="0" smtClean="0">
                <a:solidFill>
                  <a:schemeClr val="bg1"/>
                </a:solidFill>
              </a:rPr>
              <a:t> 데이터로 변환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373853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데이터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분리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2571704" y="2857484"/>
            <a:ext cx="12287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500134" y="2714608"/>
            <a:ext cx="139304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chemeClr val="bg1"/>
                </a:solidFill>
              </a:rPr>
              <a:t>K-Fold 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교차 검증</a:t>
            </a:r>
            <a:r>
              <a:rPr lang="en-US" altLang="ko-KR" sz="3600" dirty="0" smtClean="0">
                <a:solidFill>
                  <a:schemeClr val="bg1"/>
                </a:solidFill>
              </a:rPr>
              <a:t>: </a:t>
            </a:r>
            <a:r>
              <a:rPr lang="ko-KR" altLang="en-US" sz="3600" dirty="0" smtClean="0">
                <a:solidFill>
                  <a:schemeClr val="bg1"/>
                </a:solidFill>
              </a:rPr>
              <a:t>전체 데이터를 </a:t>
            </a:r>
            <a:r>
              <a:rPr lang="en-US" altLang="ko-KR" sz="3600" dirty="0" smtClean="0">
                <a:solidFill>
                  <a:schemeClr val="bg1"/>
                </a:solidFill>
              </a:rPr>
              <a:t>5</a:t>
            </a:r>
            <a:r>
              <a:rPr lang="ko-KR" altLang="en-US" sz="3600" dirty="0" smtClean="0">
                <a:solidFill>
                  <a:schemeClr val="bg1"/>
                </a:solidFill>
              </a:rPr>
              <a:t>개의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폴드</a:t>
            </a:r>
            <a:r>
              <a:rPr lang="en-US" altLang="ko-KR" sz="3600" dirty="0" smtClean="0">
                <a:solidFill>
                  <a:schemeClr val="bg1"/>
                </a:solidFill>
              </a:rPr>
              <a:t>(Fold)</a:t>
            </a:r>
            <a:r>
              <a:rPr lang="ko-KR" altLang="en-US" sz="3600" dirty="0" smtClean="0">
                <a:solidFill>
                  <a:schemeClr val="bg1"/>
                </a:solidFill>
              </a:rPr>
              <a:t>로 나누어 학습과 검증을 반복함으로써 특정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데이터셋에</a:t>
            </a:r>
            <a:r>
              <a:rPr lang="ko-KR" altLang="en-US" sz="3600" dirty="0" smtClean="0">
                <a:solidFill>
                  <a:schemeClr val="bg1"/>
                </a:solidFill>
              </a:rPr>
              <a:t>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과적합되는</a:t>
            </a:r>
            <a:r>
              <a:rPr lang="ko-KR" altLang="en-US" sz="3600" dirty="0" smtClean="0">
                <a:solidFill>
                  <a:schemeClr val="bg1"/>
                </a:solidFill>
              </a:rPr>
              <a:t> 것을 방지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153400" y="4648200"/>
            <a:ext cx="3276616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모델링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071506" y="1357286"/>
            <a:ext cx="4738662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모델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아키텍처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설계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3214646" y="2500294"/>
            <a:ext cx="11858708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</a:rPr>
              <a:t>Scikit</a:t>
            </a:r>
            <a:r>
              <a:rPr lang="en-US" sz="3600" b="1" dirty="0" smtClean="0">
                <a:solidFill>
                  <a:schemeClr val="bg1"/>
                </a:solidFill>
              </a:rPr>
              <a:t>-learn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의 </a:t>
            </a:r>
            <a:r>
              <a:rPr lang="en-US" sz="3600" b="1" dirty="0" smtClean="0">
                <a:solidFill>
                  <a:schemeClr val="bg1"/>
                </a:solidFill>
              </a:rPr>
              <a:t>Pipeline</a:t>
            </a:r>
            <a:r>
              <a:rPr lang="en-US" sz="3600" dirty="0" smtClean="0">
                <a:solidFill>
                  <a:schemeClr val="bg1"/>
                </a:solidFill>
              </a:rPr>
              <a:t> </a:t>
            </a:r>
            <a:r>
              <a:rPr lang="ko-KR" altLang="en-US" sz="3600" dirty="0" smtClean="0">
                <a:solidFill>
                  <a:schemeClr val="bg1"/>
                </a:solidFill>
              </a:rPr>
              <a:t>기능</a:t>
            </a:r>
            <a:r>
              <a:rPr lang="en-US" altLang="ko-KR" sz="3600" dirty="0" smtClean="0">
                <a:solidFill>
                  <a:schemeClr val="bg1"/>
                </a:solidFill>
              </a:rPr>
              <a:t> 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파이프라인 기반 아키텍처</a:t>
            </a:r>
            <a:endParaRPr lang="en-US" altLang="ko-KR" sz="3600" b="1" dirty="0" smtClean="0">
              <a:solidFill>
                <a:schemeClr val="bg1"/>
              </a:solidFill>
            </a:endParaRPr>
          </a:p>
          <a:p>
            <a:endParaRPr lang="en-US" altLang="ko-KR" sz="3600" b="1" dirty="0" smtClean="0">
              <a:solidFill>
                <a:schemeClr val="bg1"/>
              </a:solidFill>
            </a:endParaRPr>
          </a:p>
          <a:p>
            <a:r>
              <a:rPr lang="ko-KR" altLang="en-US" sz="3600" b="1" dirty="0" smtClean="0">
                <a:solidFill>
                  <a:schemeClr val="bg1"/>
                </a:solidFill>
              </a:rPr>
              <a:t>전처리 </a:t>
            </a:r>
            <a:r>
              <a:rPr lang="ko-KR" altLang="en-US" sz="3600" b="1" dirty="0" err="1" smtClean="0">
                <a:solidFill>
                  <a:schemeClr val="bg1"/>
                </a:solidFill>
              </a:rPr>
              <a:t>레이어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(</a:t>
            </a:r>
            <a:r>
              <a:rPr lang="en-US" sz="3600" b="1" dirty="0" smtClean="0">
                <a:solidFill>
                  <a:schemeClr val="bg1"/>
                </a:solidFill>
              </a:rPr>
              <a:t>Preprocessing Layer) : </a:t>
            </a:r>
            <a:r>
              <a:rPr lang="en-US" sz="3600" b="1" dirty="0" err="1" smtClean="0">
                <a:solidFill>
                  <a:schemeClr val="bg1"/>
                </a:solidFill>
              </a:rPr>
              <a:t>RobustScaler</a:t>
            </a:r>
            <a:endParaRPr lang="en-US" sz="3600" b="1" dirty="0" smtClean="0">
              <a:solidFill>
                <a:schemeClr val="bg1"/>
              </a:solidFill>
            </a:endParaRPr>
          </a:p>
          <a:p>
            <a:endParaRPr lang="en-US" altLang="ko-KR" sz="3600" b="1" dirty="0" smtClean="0">
              <a:solidFill>
                <a:schemeClr val="bg1"/>
              </a:solidFill>
            </a:endParaRPr>
          </a:p>
          <a:p>
            <a:r>
              <a:rPr lang="ko-KR" altLang="en-US" sz="3600" b="1" dirty="0" smtClean="0">
                <a:solidFill>
                  <a:schemeClr val="bg1"/>
                </a:solidFill>
              </a:rPr>
              <a:t>대상 변수 변환 </a:t>
            </a:r>
            <a:r>
              <a:rPr lang="ko-KR" altLang="en-US" sz="3600" b="1" dirty="0" err="1" smtClean="0">
                <a:solidFill>
                  <a:schemeClr val="bg1"/>
                </a:solidFill>
              </a:rPr>
              <a:t>레이어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(</a:t>
            </a:r>
            <a:r>
              <a:rPr lang="en-US" sz="3600" b="1" dirty="0" smtClean="0">
                <a:solidFill>
                  <a:schemeClr val="bg1"/>
                </a:solidFill>
              </a:rPr>
              <a:t>Target Transformation Layer)</a:t>
            </a:r>
          </a:p>
          <a:p>
            <a:r>
              <a:rPr lang="en-US" sz="3600" b="1" dirty="0" err="1" smtClean="0">
                <a:solidFill>
                  <a:schemeClr val="bg1"/>
                </a:solidFill>
              </a:rPr>
              <a:t>TransformedTargetRegressor</a:t>
            </a:r>
            <a:endParaRPr lang="en-US" sz="3600" b="1" dirty="0" smtClean="0">
              <a:solidFill>
                <a:schemeClr val="bg1"/>
              </a:solidFill>
            </a:endParaRPr>
          </a:p>
          <a:p>
            <a:r>
              <a:rPr lang="en-US" sz="3600" b="1" dirty="0" err="1" smtClean="0">
                <a:solidFill>
                  <a:schemeClr val="bg1"/>
                </a:solidFill>
              </a:rPr>
              <a:t>QuantileTransformer</a:t>
            </a:r>
            <a:endParaRPr lang="en-US" sz="3600" b="1" dirty="0" smtClean="0">
              <a:solidFill>
                <a:schemeClr val="bg1"/>
              </a:solidFill>
            </a:endParaRPr>
          </a:p>
          <a:p>
            <a:endParaRPr lang="en-US" altLang="ko-KR" sz="3600" b="1" dirty="0" smtClean="0">
              <a:solidFill>
                <a:schemeClr val="bg1"/>
              </a:solidFill>
            </a:endParaRPr>
          </a:p>
          <a:p>
            <a:r>
              <a:rPr lang="ko-KR" altLang="en-US" sz="3600" b="1" dirty="0" smtClean="0">
                <a:solidFill>
                  <a:schemeClr val="bg1"/>
                </a:solidFill>
              </a:rPr>
              <a:t>핵심 예측 엔진 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(</a:t>
            </a:r>
            <a:r>
              <a:rPr lang="en-US" sz="3600" b="1" dirty="0" smtClean="0">
                <a:solidFill>
                  <a:schemeClr val="bg1"/>
                </a:solidFill>
              </a:rPr>
              <a:t>Core </a:t>
            </a:r>
            <a:r>
              <a:rPr lang="en-US" sz="3600" b="1" dirty="0" err="1" smtClean="0">
                <a:solidFill>
                  <a:schemeClr val="bg1"/>
                </a:solidFill>
              </a:rPr>
              <a:t>Regressor</a:t>
            </a:r>
            <a:r>
              <a:rPr lang="en-US" sz="3600" b="1" dirty="0" smtClean="0">
                <a:solidFill>
                  <a:schemeClr val="bg1"/>
                </a:solidFill>
              </a:rPr>
              <a:t>)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/>
            </a:r>
            <a:br>
              <a:rPr lang="en-US" sz="3600" dirty="0" smtClean="0">
                <a:solidFill>
                  <a:schemeClr val="bg1"/>
                </a:solidFill>
              </a:rPr>
            </a:br>
            <a:r>
              <a:rPr lang="en-US" sz="3600" b="1" dirty="0" smtClean="0">
                <a:solidFill>
                  <a:schemeClr val="bg1"/>
                </a:solidFill>
              </a:rPr>
              <a:t>SVR (Support Vector </a:t>
            </a:r>
            <a:r>
              <a:rPr lang="en-US" sz="3600" b="1" dirty="0" err="1" smtClean="0">
                <a:solidFill>
                  <a:schemeClr val="bg1"/>
                </a:solidFill>
              </a:rPr>
              <a:t>Regressor</a:t>
            </a:r>
            <a:r>
              <a:rPr lang="en-US" sz="3600" b="1" dirty="0" smtClean="0">
                <a:solidFill>
                  <a:schemeClr val="bg1"/>
                </a:solidFill>
              </a:rPr>
              <a:t>)</a:t>
            </a:r>
            <a:r>
              <a:rPr lang="en-US" altLang="ko-KR" sz="3600" b="1" dirty="0" smtClean="0">
                <a:solidFill>
                  <a:schemeClr val="bg1"/>
                </a:solidFill>
              </a:rPr>
              <a:t/>
            </a:r>
            <a:br>
              <a:rPr lang="en-US" altLang="ko-KR" sz="3600" b="1" dirty="0" smtClean="0">
                <a:solidFill>
                  <a:schemeClr val="bg1"/>
                </a:solidFill>
              </a:rPr>
            </a:br>
            <a:r>
              <a:rPr lang="en-US" altLang="ko-KR" sz="3600" b="1" dirty="0" smtClean="0">
                <a:solidFill>
                  <a:schemeClr val="bg1"/>
                </a:solidFill>
              </a:rPr>
              <a:t/>
            </a:r>
            <a:br>
              <a:rPr lang="en-US" altLang="ko-KR" sz="3600" b="1" dirty="0" smtClean="0">
                <a:solidFill>
                  <a:schemeClr val="bg1"/>
                </a:solidFill>
              </a:rPr>
            </a:br>
            <a:r>
              <a:rPr lang="en-US" altLang="ko-KR" sz="3600" b="1" dirty="0" smtClean="0">
                <a:solidFill>
                  <a:schemeClr val="bg1"/>
                </a:solidFill>
              </a:rPr>
              <a:t/>
            </a:r>
            <a:br>
              <a:rPr lang="en-US" altLang="ko-KR" sz="3600" b="1" dirty="0" smtClean="0">
                <a:solidFill>
                  <a:schemeClr val="bg1"/>
                </a:solidFill>
              </a:rPr>
            </a:br>
            <a:endParaRPr lang="ko-KR" alt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ca5hgo1rj4fsxzz_page-0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278"/>
            <a:ext cx="18288000" cy="10309556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20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ca5hgo1rj4fsxzz_page-0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572" y="928658"/>
            <a:ext cx="14287600" cy="864399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ca5hgo1rj4fsxzz_page-0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48" y="1000096"/>
            <a:ext cx="14986976" cy="844865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143736" y="4429120"/>
            <a:ext cx="5643602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 err="1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하이퍼파라미터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튜닝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ca5hgo1rj4fsxzz_page-0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370" y="1000096"/>
            <a:ext cx="14972755" cy="844617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5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9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20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072166" y="4643434"/>
            <a:ext cx="58039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손실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rPr>
              <a:t>함수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및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최적화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기법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ca5hgo1rj4fsxzz_page-0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696" y="1071534"/>
            <a:ext cx="14938517" cy="842134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57192" y="1571600"/>
            <a:ext cx="500066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학습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전략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설정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2071638" y="3000360"/>
            <a:ext cx="135732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chemeClr val="bg1"/>
                </a:solidFill>
              </a:rPr>
              <a:t>Hyperparameter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 Optimization</a:t>
            </a:r>
            <a:r>
              <a:rPr lang="en-US" altLang="ko-KR" sz="3600" dirty="0" smtClean="0">
                <a:solidFill>
                  <a:schemeClr val="bg1"/>
                </a:solidFill>
              </a:rPr>
              <a:t>: 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Hyperopt</a:t>
            </a:r>
            <a:r>
              <a:rPr lang="en-US" altLang="ko-KR" sz="3600" dirty="0" smtClean="0">
                <a:solidFill>
                  <a:schemeClr val="bg1"/>
                </a:solidFill>
              </a:rPr>
              <a:t> </a:t>
            </a:r>
            <a:r>
              <a:rPr lang="ko-KR" altLang="en-US" sz="3600" dirty="0" smtClean="0">
                <a:solidFill>
                  <a:schemeClr val="bg1"/>
                </a:solidFill>
              </a:rPr>
              <a:t>라이브러리를 사용하여 </a:t>
            </a:r>
            <a:r>
              <a:rPr lang="en-US" altLang="ko-KR" sz="3600" dirty="0" smtClean="0">
                <a:solidFill>
                  <a:schemeClr val="bg1"/>
                </a:solidFill>
              </a:rPr>
              <a:t>SVR </a:t>
            </a:r>
            <a:r>
              <a:rPr lang="ko-KR" altLang="en-US" sz="3600" dirty="0" smtClean="0">
                <a:solidFill>
                  <a:schemeClr val="bg1"/>
                </a:solidFill>
              </a:rPr>
              <a:t>모델의 핵심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파라미터인</a:t>
            </a:r>
            <a:r>
              <a:rPr lang="ko-KR" altLang="en-US" sz="3600" dirty="0" smtClean="0">
                <a:solidFill>
                  <a:schemeClr val="bg1"/>
                </a:solidFill>
              </a:rPr>
              <a:t> </a:t>
            </a:r>
            <a:r>
              <a:rPr lang="en-US" altLang="ko-KR" sz="3600" dirty="0" smtClean="0">
                <a:solidFill>
                  <a:schemeClr val="bg1"/>
                </a:solidFill>
              </a:rPr>
              <a:t>C, gamma, epsilon</a:t>
            </a:r>
            <a:r>
              <a:rPr lang="ko-KR" altLang="en-US" sz="3600" dirty="0" smtClean="0">
                <a:solidFill>
                  <a:schemeClr val="bg1"/>
                </a:solidFill>
              </a:rPr>
              <a:t>의 최적 조합 탐색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K-Fold Averaging</a:t>
            </a:r>
            <a:r>
              <a:rPr lang="en-US" altLang="ko-KR" sz="3600" dirty="0" smtClean="0">
                <a:solidFill>
                  <a:schemeClr val="bg1"/>
                </a:solidFill>
              </a:rPr>
              <a:t>: </a:t>
            </a:r>
            <a:r>
              <a:rPr lang="ko-KR" altLang="en-US" sz="3600" dirty="0" smtClean="0">
                <a:solidFill>
                  <a:schemeClr val="bg1"/>
                </a:solidFill>
              </a:rPr>
              <a:t>각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폴드에서</a:t>
            </a:r>
            <a:r>
              <a:rPr lang="ko-KR" altLang="en-US" sz="3600" dirty="0" smtClean="0">
                <a:solidFill>
                  <a:schemeClr val="bg1"/>
                </a:solidFill>
              </a:rPr>
              <a:t> 학습된 모델들의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예측치를</a:t>
            </a:r>
            <a:r>
              <a:rPr lang="ko-KR" altLang="en-US" sz="3600" dirty="0" smtClean="0">
                <a:solidFill>
                  <a:schemeClr val="bg1"/>
                </a:solidFill>
              </a:rPr>
              <a:t> 평균 내어 안정성을 높임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Multi-Seed Averaging</a:t>
            </a:r>
            <a:r>
              <a:rPr lang="en-US" altLang="ko-KR" sz="3600" dirty="0" smtClean="0">
                <a:solidFill>
                  <a:schemeClr val="bg1"/>
                </a:solidFill>
              </a:rPr>
              <a:t>: 10</a:t>
            </a:r>
            <a:r>
              <a:rPr lang="ko-KR" altLang="en-US" sz="3600" dirty="0" smtClean="0">
                <a:solidFill>
                  <a:schemeClr val="bg1"/>
                </a:solidFill>
              </a:rPr>
              <a:t>개의 서로 다른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시드</a:t>
            </a:r>
            <a:r>
              <a:rPr lang="en-US" altLang="ko-KR" sz="3600" dirty="0" smtClean="0">
                <a:solidFill>
                  <a:schemeClr val="bg1"/>
                </a:solidFill>
              </a:rPr>
              <a:t>(Seed)</a:t>
            </a:r>
            <a:r>
              <a:rPr lang="ko-KR" altLang="en-US" sz="3600" dirty="0" smtClean="0">
                <a:solidFill>
                  <a:schemeClr val="bg1"/>
                </a:solidFill>
              </a:rPr>
              <a:t>를 사용하여 데이터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셔플링에</a:t>
            </a:r>
            <a:r>
              <a:rPr lang="ko-KR" altLang="en-US" sz="3600" dirty="0" smtClean="0">
                <a:solidFill>
                  <a:schemeClr val="bg1"/>
                </a:solidFill>
              </a:rPr>
              <a:t> 따른 변동성을 줄임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ko-KR" alt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62000" y="1727200"/>
            <a:ext cx="6381736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모델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비교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및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성능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개선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2571704" y="2994145"/>
            <a:ext cx="119301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>
                <a:solidFill>
                  <a:schemeClr val="bg1"/>
                </a:solidFill>
              </a:rPr>
              <a:t>다양한 예측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전략별</a:t>
            </a:r>
            <a:r>
              <a:rPr lang="ko-KR" altLang="en-US" sz="3600" dirty="0" smtClean="0">
                <a:solidFill>
                  <a:schemeClr val="bg1"/>
                </a:solidFill>
              </a:rPr>
              <a:t> 성능</a:t>
            </a:r>
            <a:r>
              <a:rPr lang="en-US" altLang="ko-KR" sz="3600" dirty="0" smtClean="0">
                <a:solidFill>
                  <a:schemeClr val="bg1"/>
                </a:solidFill>
              </a:rPr>
              <a:t>(OOF MAE)</a:t>
            </a:r>
            <a:r>
              <a:rPr lang="ko-KR" altLang="en-US" sz="3600" dirty="0" smtClean="0">
                <a:solidFill>
                  <a:schemeClr val="bg1"/>
                </a:solidFill>
              </a:rPr>
              <a:t>을 비교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Full (Single) / K-Fold</a:t>
            </a:r>
            <a:r>
              <a:rPr lang="en-US" altLang="ko-KR" sz="3600" dirty="0" smtClean="0">
                <a:solidFill>
                  <a:schemeClr val="bg1"/>
                </a:solidFill>
              </a:rPr>
              <a:t>: 0.138090</a:t>
            </a: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Multi-Seed</a:t>
            </a:r>
            <a:r>
              <a:rPr lang="en-US" altLang="ko-KR" sz="3600" dirty="0" smtClean="0">
                <a:solidFill>
                  <a:schemeClr val="bg1"/>
                </a:solidFill>
              </a:rPr>
              <a:t>: 0.139143</a:t>
            </a: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Blend (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최종 전략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)</a:t>
            </a:r>
            <a:r>
              <a:rPr lang="en-US" altLang="ko-KR" sz="3600" dirty="0" smtClean="0">
                <a:solidFill>
                  <a:schemeClr val="bg1"/>
                </a:solidFill>
              </a:rPr>
              <a:t>: 0.138483</a:t>
            </a:r>
            <a:br>
              <a:rPr lang="en-US" altLang="ko-KR" sz="3600" dirty="0" smtClean="0">
                <a:solidFill>
                  <a:schemeClr val="bg1"/>
                </a:solidFill>
              </a:rPr>
            </a:br>
            <a:r>
              <a:rPr lang="ko-KR" altLang="en-US" sz="3600" dirty="0" smtClean="0">
                <a:solidFill>
                  <a:schemeClr val="bg1"/>
                </a:solidFill>
              </a:rPr>
              <a:t>최종적으로 단일 모델</a:t>
            </a:r>
            <a:r>
              <a:rPr lang="en-US" altLang="ko-KR" sz="3600" dirty="0" smtClean="0">
                <a:solidFill>
                  <a:schemeClr val="bg1"/>
                </a:solidFill>
              </a:rPr>
              <a:t>, K-Fold </a:t>
            </a:r>
            <a:r>
              <a:rPr lang="ko-KR" altLang="en-US" sz="3600" dirty="0" smtClean="0">
                <a:solidFill>
                  <a:schemeClr val="bg1"/>
                </a:solidFill>
              </a:rPr>
              <a:t>평균</a:t>
            </a:r>
            <a:r>
              <a:rPr lang="en-US" altLang="ko-KR" sz="3600" dirty="0" smtClean="0">
                <a:solidFill>
                  <a:schemeClr val="bg1"/>
                </a:solidFill>
              </a:rPr>
              <a:t>, Multi-Seed </a:t>
            </a:r>
            <a:r>
              <a:rPr lang="ko-KR" altLang="en-US" sz="3600" dirty="0" smtClean="0">
                <a:solidFill>
                  <a:schemeClr val="bg1"/>
                </a:solidFill>
              </a:rPr>
              <a:t>평균 값을 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0.2 : 0.3 : 0.5 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비율로 </a:t>
            </a:r>
            <a:r>
              <a:rPr lang="ko-KR" altLang="en-US" sz="3600" b="1" dirty="0" err="1" smtClean="0">
                <a:solidFill>
                  <a:schemeClr val="bg1"/>
                </a:solidFill>
              </a:rPr>
              <a:t>블렌딩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(Blending)</a:t>
            </a:r>
            <a:r>
              <a:rPr lang="ko-KR" altLang="en-US" sz="3600" dirty="0" smtClean="0">
                <a:solidFill>
                  <a:schemeClr val="bg1"/>
                </a:solidFill>
              </a:rPr>
              <a:t> 하여 최종 예측 성능을 개선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ko-KR" alt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904876" y="1357286"/>
            <a:ext cx="5667356" cy="8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평가지표</a:t>
            </a:r>
            <a:r>
              <a:rPr lang="en-US" sz="4000" b="0" i="0" u="none" strike="noStrike" dirty="0">
                <a:solidFill>
                  <a:schemeClr val="bg1"/>
                </a:solidFill>
                <a:latin typeface="Pretendard Bold"/>
              </a:rPr>
              <a:t> </a:t>
            </a:r>
            <a:r>
              <a:rPr lang="ko-KR" sz="4000" b="0" i="0" u="none" strike="noStrike" dirty="0">
                <a:solidFill>
                  <a:schemeClr val="bg1"/>
                </a:solidFill>
                <a:ea typeface="Pretendard Bold"/>
              </a:rPr>
              <a:t>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3142" y="3071798"/>
            <a:ext cx="120015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chemeClr val="bg1"/>
                </a:solidFill>
              </a:rPr>
              <a:t>MAE (Mean Absolute Error)</a:t>
            </a:r>
            <a:r>
              <a:rPr lang="en-US" altLang="ko-KR" sz="3600" dirty="0" smtClean="0">
                <a:solidFill>
                  <a:schemeClr val="bg1"/>
                </a:solidFill>
              </a:rPr>
              <a:t>: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실제값과</a:t>
            </a:r>
            <a:r>
              <a:rPr lang="ko-KR" altLang="en-US" sz="3600" dirty="0" smtClean="0">
                <a:solidFill>
                  <a:schemeClr val="bg1"/>
                </a:solidFill>
              </a:rPr>
              <a:t> </a:t>
            </a:r>
            <a:r>
              <a:rPr lang="ko-KR" altLang="en-US" sz="3600" dirty="0" err="1" smtClean="0">
                <a:solidFill>
                  <a:schemeClr val="bg1"/>
                </a:solidFill>
              </a:rPr>
              <a:t>예측값의</a:t>
            </a:r>
            <a:r>
              <a:rPr lang="ko-KR" altLang="en-US" sz="3600" dirty="0" smtClean="0">
                <a:solidFill>
                  <a:schemeClr val="bg1"/>
                </a:solidFill>
              </a:rPr>
              <a:t> 절대적인 차이의 평균을 측정</a:t>
            </a:r>
            <a:endParaRPr lang="en-US" altLang="ko-KR" sz="3600" dirty="0" smtClean="0">
              <a:solidFill>
                <a:schemeClr val="bg1"/>
              </a:solidFill>
            </a:endParaRPr>
          </a:p>
          <a:p>
            <a:endParaRPr lang="en-US" altLang="ko-KR" sz="3600" dirty="0" smtClean="0">
              <a:solidFill>
                <a:schemeClr val="bg1"/>
              </a:solidFill>
            </a:endParaRPr>
          </a:p>
          <a:p>
            <a:r>
              <a:rPr lang="en-US" altLang="ko-KR" sz="3600" b="1" dirty="0" smtClean="0">
                <a:solidFill>
                  <a:schemeClr val="bg1"/>
                </a:solidFill>
              </a:rPr>
              <a:t>Learning Curve 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시각화</a:t>
            </a:r>
            <a:r>
              <a:rPr lang="en-US" altLang="ko-KR" sz="3600" dirty="0" smtClean="0">
                <a:solidFill>
                  <a:schemeClr val="bg1"/>
                </a:solidFill>
              </a:rPr>
              <a:t>: </a:t>
            </a:r>
            <a:r>
              <a:rPr lang="ko-KR" altLang="en-US" sz="3600" dirty="0" smtClean="0">
                <a:solidFill>
                  <a:schemeClr val="bg1"/>
                </a:solidFill>
              </a:rPr>
              <a:t>학습 데이터 크기에 따른 </a:t>
            </a:r>
            <a:r>
              <a:rPr lang="en-US" altLang="ko-KR" sz="3600" dirty="0" smtClean="0">
                <a:solidFill>
                  <a:schemeClr val="bg1"/>
                </a:solidFill>
              </a:rPr>
              <a:t>Training Score</a:t>
            </a:r>
            <a:r>
              <a:rPr lang="ko-KR" altLang="en-US" sz="3600" dirty="0" smtClean="0">
                <a:solidFill>
                  <a:schemeClr val="bg1"/>
                </a:solidFill>
              </a:rPr>
              <a:t>와 </a:t>
            </a:r>
            <a:r>
              <a:rPr lang="en-US" altLang="ko-KR" sz="3600" dirty="0" smtClean="0">
                <a:solidFill>
                  <a:schemeClr val="bg1"/>
                </a:solidFill>
              </a:rPr>
              <a:t>Cross-validation Score</a:t>
            </a:r>
            <a:r>
              <a:rPr lang="ko-KR" altLang="en-US" sz="3600" dirty="0" smtClean="0">
                <a:solidFill>
                  <a:schemeClr val="bg1"/>
                </a:solidFill>
              </a:rPr>
              <a:t>의 변화를 그래프로 그려 모델이 과적합</a:t>
            </a:r>
            <a:r>
              <a:rPr lang="en-US" altLang="ko-KR" sz="3600" dirty="0" smtClean="0">
                <a:solidFill>
                  <a:schemeClr val="bg1"/>
                </a:solidFill>
              </a:rPr>
              <a:t>(</a:t>
            </a:r>
            <a:r>
              <a:rPr lang="en-US" altLang="ko-KR" sz="3600" dirty="0" err="1" smtClean="0">
                <a:solidFill>
                  <a:schemeClr val="bg1"/>
                </a:solidFill>
              </a:rPr>
              <a:t>Overfitting</a:t>
            </a:r>
            <a:r>
              <a:rPr lang="en-US" altLang="ko-KR" sz="3600" dirty="0" smtClean="0">
                <a:solidFill>
                  <a:schemeClr val="bg1"/>
                </a:solidFill>
              </a:rPr>
              <a:t>)</a:t>
            </a:r>
            <a:r>
              <a:rPr lang="ko-KR" altLang="en-US" sz="3600" dirty="0" smtClean="0">
                <a:solidFill>
                  <a:schemeClr val="bg1"/>
                </a:solidFill>
              </a:rPr>
              <a:t>되지 않고 잘 학습되고 있는지 시각적으로 확인</a:t>
            </a:r>
          </a:p>
          <a:p>
            <a:endParaRPr lang="ko-KR" altLang="en-US" sz="3600" dirty="0">
              <a:solidFill>
                <a:schemeClr val="bg1"/>
              </a:solidFill>
            </a:endParaRP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ca5hgo1rj4fsxzz_page-0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449" y="1000096"/>
            <a:ext cx="14398919" cy="850112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ca5hgo1rj4fsxzz_page-0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24" y="1000096"/>
            <a:ext cx="14224199" cy="850112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2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483600" y="4648200"/>
            <a:ext cx="2160598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 dirty="0">
                <a:solidFill>
                  <a:schemeClr val="bg1"/>
                </a:solidFill>
                <a:latin typeface="+mj-ea"/>
                <a:ea typeface="+mj-ea"/>
              </a:rPr>
              <a:t>평가</a:t>
            </a:r>
          </a:p>
        </p:txBody>
      </p:sp>
      <p:pic>
        <p:nvPicPr>
          <p:cNvPr id="1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3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4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ca5hgo1rj4fsxzz_page-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20" y="1000096"/>
            <a:ext cx="15096194" cy="851022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ca5hgo1rj4fsxzz_page-0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28" y="642906"/>
            <a:ext cx="13144592" cy="8858312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-1858530700" y="-1672678900"/>
            <a:ext cx="2147483647" cy="2147483647"/>
            <a:chOff x="0" y="0"/>
            <a:chExt cx="0" cy="0"/>
          </a:xfrm>
        </p:grpSpPr>
      </p:grpSp>
      <p:grpSp>
        <p:nvGrpSpPr>
          <p:cNvPr id="3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1000" y="9283700"/>
            <a:ext cx="19050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5392400" y="9283700"/>
            <a:ext cx="2286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9512300"/>
            <a:ext cx="16764000" cy="12700"/>
          </a:xfrm>
          <a:prstGeom prst="rect">
            <a:avLst/>
          </a:prstGeom>
        </p:spPr>
      </p:pic>
      <p:pic>
        <p:nvPicPr>
          <p:cNvPr id="14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9700" y="-127000"/>
            <a:ext cx="18567400" cy="1079500"/>
          </a:xfrm>
          <a:prstGeom prst="rect">
            <a:avLst/>
          </a:prstGeom>
        </p:spPr>
      </p:pic>
      <p:sp>
        <p:nvSpPr>
          <p:cNvPr id="15" name="TextBox 9"/>
          <p:cNvSpPr txBox="1"/>
          <p:nvPr/>
        </p:nvSpPr>
        <p:spPr>
          <a:xfrm>
            <a:off x="1130300" y="342900"/>
            <a:ext cx="25019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1900" b="0" i="0" u="none" strike="noStrike">
                <a:solidFill>
                  <a:srgbClr val="000000"/>
                </a:solidFill>
                <a:ea typeface="Pretendard Bold"/>
              </a:rPr>
              <a:t>오즈코딩스쿨</a:t>
            </a:r>
          </a:p>
          <a:p>
            <a:pPr lvl="0" algn="l">
              <a:lnSpc>
                <a:spcPct val="116199"/>
              </a:lnSpc>
            </a:pPr>
            <a:endParaRPr/>
          </a:p>
        </p:txBody>
      </p:sp>
      <p:pic>
        <p:nvPicPr>
          <p:cNvPr id="19" name="Picture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" y="228600"/>
            <a:ext cx="508000" cy="508000"/>
          </a:xfrm>
          <a:prstGeom prst="rect">
            <a:avLst/>
          </a:prstGeom>
          <a:effectLst>
            <a:outerShdw blurRad="2628" dist="47414" dir="27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402</Words>
  <Application>Microsoft Office PowerPoint</Application>
  <PresentationFormat>사용자 지정</PresentationFormat>
  <Paragraphs>121</Paragraphs>
  <Slides>30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</dc:creator>
  <cp:lastModifiedBy>admin</cp:lastModifiedBy>
  <cp:revision>24</cp:revision>
  <dcterms:created xsi:type="dcterms:W3CDTF">2006-08-16T00:00:00Z</dcterms:created>
  <dcterms:modified xsi:type="dcterms:W3CDTF">2026-03-19T07:23:10Z</dcterms:modified>
</cp:coreProperties>
</file>